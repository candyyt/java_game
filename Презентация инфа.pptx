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57" r:id="rId4"/>
    <p:sldId id="268" r:id="rId5"/>
    <p:sldId id="262" r:id="rId6"/>
    <p:sldId id="260" r:id="rId7"/>
    <p:sldId id="258" r:id="rId8"/>
    <p:sldId id="259" r:id="rId9"/>
    <p:sldId id="261" r:id="rId10"/>
    <p:sldId id="263" r:id="rId11"/>
    <p:sldId id="264" r:id="rId12"/>
    <p:sldId id="267" r:id="rId13"/>
    <p:sldId id="266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B0CA35-FF14-4A08-ADD0-01A2263D8754}" v="20" dt="2026-03-11T04:57:30.1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0758" autoAdjust="0"/>
  </p:normalViewPr>
  <p:slideViewPr>
    <p:cSldViewPr snapToGrid="0">
      <p:cViewPr>
        <p:scale>
          <a:sx n="100" d="100"/>
          <a:sy n="100" d="100"/>
        </p:scale>
        <p:origin x="99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79B200-19A3-4939-9367-F41660DA3609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E7163-8782-4AD5-9009-57E1ACFEF2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9523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7E7163-8782-4AD5-9009-57E1ACFEF22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7053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576A2D-AAAC-CE99-C34B-EB0D708ED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BC4FF9A-3C7B-77DB-30E6-D9D85D1C6E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556A6A-8005-1F9B-E6CB-4E1B46A8C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543A270-82A1-FEC7-C408-E7C54D0A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E8EB50-4EB8-BB81-B1D0-E5E50842D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3329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EA34FC-404A-B943-A01D-E29AB6576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4956C9-2FEA-33FA-BAC2-BF2229AE1C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23FFEF2-8C2A-A170-999E-F5C989D9A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8138A01-A12A-A36A-9607-539C94DE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A157897-6896-66DA-8E6A-6D6AAA667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7211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8D3A4E-794D-3970-47C1-5ED98CAB0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4D28F3E-D100-4E94-259A-B3170A9897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759AEF0-4418-4465-2CCD-EC763A267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D0DBE7D-D4D5-F306-0ECD-DF6A4514F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0BA609D-039A-90D1-A0C7-AF508C5C2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8463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CEEDCF-2AAA-8ED5-E1EF-3AA85534A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84F3C7F-9FE6-1591-0E9C-2E751B3232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B4097E6-11DF-7A96-1446-4FB917156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9686F41-2E0D-99E2-546A-C9018CE7B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49850DC-B631-6326-277C-781912A9B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4D02306-2A0D-D960-14A2-A49D85C5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87184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C10688-6D0C-BD89-FF68-BACE5354B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FD90DD4-E9AF-E1A8-D304-97FF72B19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56D168-C2ED-ECB3-CC76-BC86A84AA2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4C0FE96-EC09-DA43-675F-A5FBF41643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B59FFB4-DB79-8D08-A2BA-CDDE632DE4F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2B2DF84-2D6C-3773-647C-ECE33295F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982F8AE-0B56-3DA8-CF8D-71C87E4873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22055DC-8C57-D9F9-68C6-CF7676C86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6362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6CF28-DF2D-D0D2-C83E-709E3ED78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FC33369-75EB-66CA-F660-F60BEC7AC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AB7F9F2-04B1-4F7D-B08A-AB07B9624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F3F6B8-9E8B-9A50-35EF-A175C0B88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016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F448D78-ABE2-EE32-E844-AD4CC6F5E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CA8EAE-80B4-6823-DC0A-1542B3C82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B324F9-D0AE-52DD-2E63-406035183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4787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D93FC8-1675-E59A-9C4F-4ED48CD73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303FBF-B682-2952-321D-28BA0264F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9C054DA-8213-523F-BE6B-5B1713AB02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F583E58-9BBA-1A56-350D-9A549705C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A0C76AA-8F14-7130-C05F-2241B7290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1A4D9F1-681D-564D-E24C-9A2C0ACC0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8913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4B000A-3440-F4D7-D2A6-9A4C34994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6830D7C-CB47-307B-D2E0-DD68D019FA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6AF6624-033E-101C-3D1F-F2F2C25DD7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C8603AF-9060-D82F-6A07-302A7A3C2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A81ECBF-5423-546F-BA50-53D8D447A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5D7C9C1-14BD-61DB-AA42-1F6610A10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3465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C85B47-1A2A-189E-8DFD-301337AFD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740A877-007A-BB6D-7000-40D1D2AF13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4EBFFA4-2135-5027-BB29-887AC2BE5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6384AE-CD13-C93B-F2EE-4C7E44E66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E8E7528-F6E2-F7CA-DC52-04370806A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3480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7BC4D0F-7492-2491-F324-32FCED6AB3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A170E85-D3C1-6297-B20A-80B15A7251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A233F0-1078-0794-AFB9-BFC16FF0C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13F56CA-058D-F143-B9EF-0FE18E07C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E433B4D-5B6F-55FC-FD07-B885D5ABA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4176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EBEF96-7FAD-1A61-D3FE-5BFFC9759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DE1E25-67F2-1330-D08C-9346A90F38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D7A6B03-F143-F57F-A174-D2590E1DDE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78A6A2-BF99-4281-8205-B6F90DE3879F}" type="datetimeFigureOut">
              <a:rPr lang="ru-RU" smtClean="0"/>
              <a:t>11.03.2026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8F4921-5D92-52B2-6628-2902B0ABC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BAC1806-14C2-2577-5A13-3AD33D07A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C05B0C-94D4-4399-9C4B-370BA6573A2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732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C1955-263A-F551-D203-304381EBCF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57450"/>
            <a:ext cx="9144000" cy="2171700"/>
          </a:xfrm>
        </p:spPr>
        <p:txBody>
          <a:bodyPr>
            <a:normAutofit/>
          </a:bodyPr>
          <a:lstStyle/>
          <a:p>
            <a:r>
              <a:rPr lang="ru-RU" b="1" dirty="0" err="1"/>
              <a:t>Апика</a:t>
            </a:r>
            <a:br>
              <a:rPr lang="ru-RU" dirty="0"/>
            </a:br>
            <a:r>
              <a:rPr lang="ru-RU" sz="3900" dirty="0"/>
              <a:t>2</a:t>
            </a:r>
            <a:r>
              <a:rPr lang="en-US" sz="3900" dirty="0"/>
              <a:t>D RPG </a:t>
            </a:r>
            <a:r>
              <a:rPr lang="ru-RU" sz="3900" dirty="0"/>
              <a:t>игра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508CC4-75D0-33FE-0CC0-D207F5A794A5}"/>
              </a:ext>
            </a:extLst>
          </p:cNvPr>
          <p:cNvSpPr txBox="1"/>
          <p:nvPr/>
        </p:nvSpPr>
        <p:spPr>
          <a:xfrm>
            <a:off x="7975531" y="5429152"/>
            <a:ext cx="37497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Автор</a:t>
            </a:r>
            <a:r>
              <a:rPr lang="en-US" dirty="0"/>
              <a:t>: </a:t>
            </a:r>
            <a:r>
              <a:rPr lang="ru-RU" dirty="0"/>
              <a:t>Трофимов Севастьян 10-7</a:t>
            </a:r>
          </a:p>
          <a:p>
            <a:r>
              <a:rPr lang="ru-RU" dirty="0"/>
              <a:t>Руководитель:  </a:t>
            </a:r>
            <a:r>
              <a:rPr lang="ru-RU" dirty="0" err="1"/>
              <a:t>Петраневская</a:t>
            </a:r>
            <a:r>
              <a:rPr lang="ru-RU" dirty="0"/>
              <a:t> М.В.</a:t>
            </a:r>
          </a:p>
        </p:txBody>
      </p:sp>
    </p:spTree>
    <p:extLst>
      <p:ext uri="{BB962C8B-B14F-4D97-AF65-F5344CB8AC3E}">
        <p14:creationId xmlns:p14="http://schemas.microsoft.com/office/powerpoint/2010/main" val="314498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9CE5E5-39DE-18D2-ABDF-9AEDD3008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69EB89-2D69-0F67-64B7-13BB1AEF7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3369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48FA9F-24D5-F67D-349F-BF42878C4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1170" y="129165"/>
            <a:ext cx="4889657" cy="1325563"/>
          </a:xfrm>
        </p:spPr>
        <p:txBody>
          <a:bodyPr/>
          <a:lstStyle/>
          <a:p>
            <a:r>
              <a:rPr lang="ru-RU" dirty="0"/>
              <a:t>Постановка задачи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AC18DEE-59A1-C171-6397-55AF6FEDDF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dirty="0"/>
              <a:t>Выбрать библиотеку</a:t>
            </a:r>
          </a:p>
          <a:p>
            <a:pPr marL="514350" indent="-514350">
              <a:buFont typeface="+mj-lt"/>
              <a:buAutoNum type="arabicPeriod"/>
            </a:pPr>
            <a:endParaRPr lang="ru-RU" dirty="0"/>
          </a:p>
          <a:p>
            <a:pPr marL="514350" indent="-514350">
              <a:buFont typeface="+mj-lt"/>
              <a:buAutoNum type="arabicPeriod"/>
            </a:pPr>
            <a:r>
              <a:rPr lang="ru-RU" dirty="0"/>
              <a:t>Разработать 2D-платформер с элементами RPG:</a:t>
            </a:r>
          </a:p>
          <a:p>
            <a:pPr lvl="1"/>
            <a:r>
              <a:rPr lang="ru-RU" dirty="0"/>
              <a:t>Реализовать управление</a:t>
            </a:r>
          </a:p>
          <a:p>
            <a:pPr lvl="1"/>
            <a:r>
              <a:rPr lang="ru-RU" dirty="0"/>
              <a:t>, физику,</a:t>
            </a:r>
          </a:p>
          <a:p>
            <a:pPr lvl="1"/>
            <a:r>
              <a:rPr lang="ru-RU" dirty="0"/>
              <a:t> сбор предметов,</a:t>
            </a:r>
          </a:p>
          <a:p>
            <a:pPr lvl="1"/>
            <a:r>
              <a:rPr lang="ru-RU" dirty="0"/>
              <a:t>Улучшение характеристик, </a:t>
            </a:r>
          </a:p>
          <a:p>
            <a:pPr lvl="1"/>
            <a:r>
              <a:rPr lang="ru-RU" dirty="0"/>
              <a:t>сражения с боссами.</a:t>
            </a:r>
          </a:p>
          <a:p>
            <a:endParaRPr lang="ru-RU" dirty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91655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083DAC-C70F-0838-5044-37318A296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Библиотека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F9F6328-3D8A-0352-DE0A-587AC13C00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72862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Прямоугольник: скругленные углы 58">
            <a:extLst>
              <a:ext uri="{FF2B5EF4-FFF2-40B4-BE49-F238E27FC236}">
                <a16:creationId xmlns:a16="http://schemas.microsoft.com/office/drawing/2014/main" id="{F7CD3B78-DB60-B159-1EED-16AC63D5C982}"/>
              </a:ext>
            </a:extLst>
          </p:cNvPr>
          <p:cNvSpPr/>
          <p:nvPr/>
        </p:nvSpPr>
        <p:spPr>
          <a:xfrm>
            <a:off x="5999647" y="4286307"/>
            <a:ext cx="784149" cy="4380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Прямоугольник: скругленные углы 57">
            <a:extLst>
              <a:ext uri="{FF2B5EF4-FFF2-40B4-BE49-F238E27FC236}">
                <a16:creationId xmlns:a16="http://schemas.microsoft.com/office/drawing/2014/main" id="{321D7229-54C2-6879-86B3-6F5B3EAFEECE}"/>
              </a:ext>
            </a:extLst>
          </p:cNvPr>
          <p:cNvSpPr/>
          <p:nvPr/>
        </p:nvSpPr>
        <p:spPr>
          <a:xfrm>
            <a:off x="4577902" y="4292653"/>
            <a:ext cx="1319464" cy="4380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Прямоугольник: скругленные углы 56">
            <a:extLst>
              <a:ext uri="{FF2B5EF4-FFF2-40B4-BE49-F238E27FC236}">
                <a16:creationId xmlns:a16="http://schemas.microsoft.com/office/drawing/2014/main" id="{6BC3B258-6FCA-958A-2A40-8491DE5F56CA}"/>
              </a:ext>
            </a:extLst>
          </p:cNvPr>
          <p:cNvSpPr/>
          <p:nvPr/>
        </p:nvSpPr>
        <p:spPr>
          <a:xfrm>
            <a:off x="3209925" y="4239053"/>
            <a:ext cx="1229767" cy="4916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: скругленные углы 55">
            <a:extLst>
              <a:ext uri="{FF2B5EF4-FFF2-40B4-BE49-F238E27FC236}">
                <a16:creationId xmlns:a16="http://schemas.microsoft.com/office/drawing/2014/main" id="{639268C0-FD3C-5841-7FFE-7803D8CB9DF5}"/>
              </a:ext>
            </a:extLst>
          </p:cNvPr>
          <p:cNvSpPr/>
          <p:nvPr/>
        </p:nvSpPr>
        <p:spPr>
          <a:xfrm>
            <a:off x="8147083" y="3722759"/>
            <a:ext cx="523842" cy="48908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Прямоугольник: скругленные углы 54">
            <a:extLst>
              <a:ext uri="{FF2B5EF4-FFF2-40B4-BE49-F238E27FC236}">
                <a16:creationId xmlns:a16="http://schemas.microsoft.com/office/drawing/2014/main" id="{C3037882-ECEC-DE40-9D09-8EA32411BF43}"/>
              </a:ext>
            </a:extLst>
          </p:cNvPr>
          <p:cNvSpPr/>
          <p:nvPr/>
        </p:nvSpPr>
        <p:spPr>
          <a:xfrm>
            <a:off x="6096000" y="3664801"/>
            <a:ext cx="1914395" cy="48908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Прямоугольник: скругленные углы 53">
            <a:extLst>
              <a:ext uri="{FF2B5EF4-FFF2-40B4-BE49-F238E27FC236}">
                <a16:creationId xmlns:a16="http://schemas.microsoft.com/office/drawing/2014/main" id="{3E85679D-33E7-321B-8B21-66540CDB1F96}"/>
              </a:ext>
            </a:extLst>
          </p:cNvPr>
          <p:cNvSpPr/>
          <p:nvPr/>
        </p:nvSpPr>
        <p:spPr>
          <a:xfrm>
            <a:off x="4360042" y="3664801"/>
            <a:ext cx="1653802" cy="48908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Прямоугольник: скругленные углы 49">
            <a:extLst>
              <a:ext uri="{FF2B5EF4-FFF2-40B4-BE49-F238E27FC236}">
                <a16:creationId xmlns:a16="http://schemas.microsoft.com/office/drawing/2014/main" id="{D073AC32-B3A7-2436-83BA-6B6E4ABC9241}"/>
              </a:ext>
            </a:extLst>
          </p:cNvPr>
          <p:cNvSpPr/>
          <p:nvPr/>
        </p:nvSpPr>
        <p:spPr>
          <a:xfrm>
            <a:off x="3285027" y="3642679"/>
            <a:ext cx="1006572" cy="48908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: скругленные углы 48">
            <a:extLst>
              <a:ext uri="{FF2B5EF4-FFF2-40B4-BE49-F238E27FC236}">
                <a16:creationId xmlns:a16="http://schemas.microsoft.com/office/drawing/2014/main" id="{5E4178FB-F704-7B1C-C2AC-5DC0DA34A7C8}"/>
              </a:ext>
            </a:extLst>
          </p:cNvPr>
          <p:cNvSpPr/>
          <p:nvPr/>
        </p:nvSpPr>
        <p:spPr>
          <a:xfrm>
            <a:off x="3012945" y="3130402"/>
            <a:ext cx="1830934" cy="421100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C705D731-7A8E-3069-3445-355FD5538169}"/>
              </a:ext>
            </a:extLst>
          </p:cNvPr>
          <p:cNvSpPr/>
          <p:nvPr/>
        </p:nvSpPr>
        <p:spPr>
          <a:xfrm>
            <a:off x="2862102" y="2236548"/>
            <a:ext cx="1391606" cy="63159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A84AA6-D69E-9DE5-690E-F563FC029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Диаграмма классов </a:t>
            </a:r>
            <a:r>
              <a:rPr lang="en-US" dirty="0"/>
              <a:t>UML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03EFB1-03B7-6981-57D4-F605A9E61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77902" y="2308098"/>
            <a:ext cx="1175806" cy="5289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Main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9F7F93-3642-E1CC-B8F8-6BCC76324580}"/>
              </a:ext>
            </a:extLst>
          </p:cNvPr>
          <p:cNvSpPr txBox="1"/>
          <p:nvPr/>
        </p:nvSpPr>
        <p:spPr>
          <a:xfrm>
            <a:off x="2929135" y="3071869"/>
            <a:ext cx="20351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Gamepanel</a:t>
            </a:r>
            <a:endParaRPr lang="ru-RU" sz="2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E8DA84-DF0A-7240-ABE5-E02C5CDB664B}"/>
              </a:ext>
            </a:extLst>
          </p:cNvPr>
          <p:cNvSpPr txBox="1"/>
          <p:nvPr/>
        </p:nvSpPr>
        <p:spPr>
          <a:xfrm>
            <a:off x="4253708" y="3630151"/>
            <a:ext cx="19377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</a:t>
            </a:r>
            <a:endParaRPr lang="ru-RU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3F9DC9-AD15-DC41-91BC-FC63BB84BA4F}"/>
              </a:ext>
            </a:extLst>
          </p:cNvPr>
          <p:cNvSpPr txBox="1"/>
          <p:nvPr/>
        </p:nvSpPr>
        <p:spPr>
          <a:xfrm>
            <a:off x="3269087" y="3630151"/>
            <a:ext cx="1173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Entity</a:t>
            </a:r>
            <a:endParaRPr lang="ru-RU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B69C54-98BF-1956-BBFE-E27B8D9915C7}"/>
              </a:ext>
            </a:extLst>
          </p:cNvPr>
          <p:cNvSpPr txBox="1"/>
          <p:nvPr/>
        </p:nvSpPr>
        <p:spPr>
          <a:xfrm>
            <a:off x="3285027" y="4207485"/>
            <a:ext cx="12551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Player</a:t>
            </a:r>
            <a:endParaRPr lang="ru-RU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A3D16-0200-9BE0-D274-790A8032A740}"/>
              </a:ext>
            </a:extLst>
          </p:cNvPr>
          <p:cNvSpPr txBox="1"/>
          <p:nvPr/>
        </p:nvSpPr>
        <p:spPr>
          <a:xfrm>
            <a:off x="4489406" y="4207485"/>
            <a:ext cx="15741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Monster</a:t>
            </a:r>
            <a:endParaRPr lang="ru-RU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A192D0-FCB5-3BCF-4F02-044BEFD0AC39}"/>
              </a:ext>
            </a:extLst>
          </p:cNvPr>
          <p:cNvSpPr txBox="1"/>
          <p:nvPr/>
        </p:nvSpPr>
        <p:spPr>
          <a:xfrm>
            <a:off x="6039055" y="3647297"/>
            <a:ext cx="21883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/>
              <a:t>TileManager</a:t>
            </a:r>
            <a:endParaRPr lang="ru-RU" sz="2800" dirty="0"/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04A04D42-54B7-A9D0-ECC9-7916C6AFF459}"/>
              </a:ext>
            </a:extLst>
          </p:cNvPr>
          <p:cNvCxnSpPr>
            <a:cxnSpLocks/>
          </p:cNvCxnSpPr>
          <p:nvPr/>
        </p:nvCxnSpPr>
        <p:spPr>
          <a:xfrm>
            <a:off x="3683883" y="3485850"/>
            <a:ext cx="1604" cy="229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5AF151BA-BF78-93A2-542A-06034348CA66}"/>
              </a:ext>
            </a:extLst>
          </p:cNvPr>
          <p:cNvCxnSpPr>
            <a:cxnSpLocks/>
          </p:cNvCxnSpPr>
          <p:nvPr/>
        </p:nvCxnSpPr>
        <p:spPr>
          <a:xfrm>
            <a:off x="4334831" y="3559599"/>
            <a:ext cx="370894" cy="15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2683DDE8-1271-CAB3-E102-CE0E203A5A50}"/>
              </a:ext>
            </a:extLst>
          </p:cNvPr>
          <p:cNvCxnSpPr>
            <a:cxnSpLocks/>
          </p:cNvCxnSpPr>
          <p:nvPr/>
        </p:nvCxnSpPr>
        <p:spPr>
          <a:xfrm>
            <a:off x="4975720" y="3329666"/>
            <a:ext cx="1174812" cy="3176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5E87EB9B-82F6-E58C-251C-B0C6EEE56588}"/>
              </a:ext>
            </a:extLst>
          </p:cNvPr>
          <p:cNvCxnSpPr>
            <a:cxnSpLocks/>
          </p:cNvCxnSpPr>
          <p:nvPr/>
        </p:nvCxnSpPr>
        <p:spPr>
          <a:xfrm flipH="1">
            <a:off x="3683883" y="3998568"/>
            <a:ext cx="2" cy="342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E7508191-771E-F429-4F1F-DB752DEB2238}"/>
              </a:ext>
            </a:extLst>
          </p:cNvPr>
          <p:cNvCxnSpPr>
            <a:cxnSpLocks/>
          </p:cNvCxnSpPr>
          <p:nvPr/>
        </p:nvCxnSpPr>
        <p:spPr>
          <a:xfrm>
            <a:off x="4064889" y="4051251"/>
            <a:ext cx="640836" cy="1878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E077479-8DA8-0D96-746A-D624A10A9359}"/>
              </a:ext>
            </a:extLst>
          </p:cNvPr>
          <p:cNvSpPr txBox="1"/>
          <p:nvPr/>
        </p:nvSpPr>
        <p:spPr>
          <a:xfrm>
            <a:off x="5897366" y="4207485"/>
            <a:ext cx="10580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Boss</a:t>
            </a:r>
            <a:endParaRPr lang="ru-RU" sz="2800" dirty="0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9C732A0B-9ABC-72F3-582B-AC956B4DC820}"/>
              </a:ext>
            </a:extLst>
          </p:cNvPr>
          <p:cNvCxnSpPr>
            <a:cxnSpLocks/>
          </p:cNvCxnSpPr>
          <p:nvPr/>
        </p:nvCxnSpPr>
        <p:spPr>
          <a:xfrm>
            <a:off x="5010936" y="4031202"/>
            <a:ext cx="1002908" cy="207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E227DE3-E449-D70A-87A3-EB8FAF7FABD9}"/>
              </a:ext>
            </a:extLst>
          </p:cNvPr>
          <p:cNvSpPr txBox="1"/>
          <p:nvPr/>
        </p:nvSpPr>
        <p:spPr>
          <a:xfrm>
            <a:off x="8152847" y="3637565"/>
            <a:ext cx="6285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UI</a:t>
            </a:r>
            <a:endParaRPr lang="ru-RU" sz="2800" dirty="0"/>
          </a:p>
        </p:txBody>
      </p: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A8A8D14D-7C3E-9F6C-4F6B-D0FA20DC3694}"/>
              </a:ext>
            </a:extLst>
          </p:cNvPr>
          <p:cNvCxnSpPr>
            <a:cxnSpLocks/>
          </p:cNvCxnSpPr>
          <p:nvPr/>
        </p:nvCxnSpPr>
        <p:spPr>
          <a:xfrm>
            <a:off x="4973982" y="3325033"/>
            <a:ext cx="3271493" cy="429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50B8A748-A06C-628E-AA8F-19ADB821CBAD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3578481" y="2760183"/>
            <a:ext cx="368236" cy="3116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0076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E7F284-457D-FD61-2C8F-1A4304810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Алгоритм работы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BBF8536-7015-05A0-DCDA-F5E404426C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2229161" cy="11907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CFD270-51B5-119A-F454-95116BAE73AD}"/>
              </a:ext>
            </a:extLst>
          </p:cNvPr>
          <p:cNvSpPr txBox="1"/>
          <p:nvPr/>
        </p:nvSpPr>
        <p:spPr>
          <a:xfrm>
            <a:off x="468014" y="2881479"/>
            <a:ext cx="296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Текстовый файл с числами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53C8C183-99F9-3747-5A88-FF8CEEAB9EC2}"/>
              </a:ext>
            </a:extLst>
          </p:cNvPr>
          <p:cNvCxnSpPr>
            <a:cxnSpLocks/>
          </p:cNvCxnSpPr>
          <p:nvPr/>
        </p:nvCxnSpPr>
        <p:spPr>
          <a:xfrm>
            <a:off x="3128321" y="2286083"/>
            <a:ext cx="902659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D737419-8087-2BAB-7A3A-EFD851DA2C3F}"/>
              </a:ext>
            </a:extLst>
          </p:cNvPr>
          <p:cNvSpPr txBox="1"/>
          <p:nvPr/>
        </p:nvSpPr>
        <p:spPr>
          <a:xfrm>
            <a:off x="4091940" y="2101417"/>
            <a:ext cx="3240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Массив </a:t>
            </a:r>
            <a:r>
              <a:rPr lang="en-US" dirty="0" err="1"/>
              <a:t>mapTileNum</a:t>
            </a:r>
            <a:r>
              <a:rPr lang="en-US" dirty="0"/>
              <a:t>[col][row]</a:t>
            </a:r>
            <a:endParaRPr lang="ru-R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749786-097A-C680-1507-1389E8DAA68C}"/>
              </a:ext>
            </a:extLst>
          </p:cNvPr>
          <p:cNvSpPr txBox="1"/>
          <p:nvPr/>
        </p:nvSpPr>
        <p:spPr>
          <a:xfrm>
            <a:off x="1644681" y="31699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+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E0241CCF-6302-BC41-62BC-96052155C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419" y="3476874"/>
            <a:ext cx="2657902" cy="115618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A5AEAB6-9AEA-7752-DD89-78F9EEDCA299}"/>
              </a:ext>
            </a:extLst>
          </p:cNvPr>
          <p:cNvSpPr txBox="1"/>
          <p:nvPr/>
        </p:nvSpPr>
        <p:spPr>
          <a:xfrm>
            <a:off x="1190230" y="4633061"/>
            <a:ext cx="1217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Картинки</a:t>
            </a:r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D4E19757-9F37-AE20-00A1-40A4AD76BCB5}"/>
              </a:ext>
            </a:extLst>
          </p:cNvPr>
          <p:cNvCxnSpPr>
            <a:cxnSpLocks/>
          </p:cNvCxnSpPr>
          <p:nvPr/>
        </p:nvCxnSpPr>
        <p:spPr>
          <a:xfrm flipV="1">
            <a:off x="3276600" y="2470749"/>
            <a:ext cx="1242060" cy="1445931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42BBAF3-6D89-E260-4139-E56E88CA53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7029" y="2903100"/>
            <a:ext cx="1810003" cy="69542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9103F6A0-EC41-CC55-6210-ED33371AA9C2}"/>
              </a:ext>
            </a:extLst>
          </p:cNvPr>
          <p:cNvSpPr txBox="1"/>
          <p:nvPr/>
        </p:nvSpPr>
        <p:spPr>
          <a:xfrm>
            <a:off x="4135909" y="3639681"/>
            <a:ext cx="3920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Текстовый файл с названием и координатами сущности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2AAF301-641C-F045-E2C5-9EA2AF297073}"/>
              </a:ext>
            </a:extLst>
          </p:cNvPr>
          <p:cNvSpPr txBox="1"/>
          <p:nvPr/>
        </p:nvSpPr>
        <p:spPr>
          <a:xfrm>
            <a:off x="4200303" y="4696741"/>
            <a:ext cx="31318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Массивы </a:t>
            </a:r>
            <a:r>
              <a:rPr lang="en-US" dirty="0"/>
              <a:t>obj[] </a:t>
            </a:r>
            <a:r>
              <a:rPr lang="ru-RU" dirty="0"/>
              <a:t>и </a:t>
            </a:r>
            <a:r>
              <a:rPr lang="en-US" dirty="0"/>
              <a:t>monster[] </a:t>
            </a:r>
            <a:r>
              <a:rPr lang="ru-RU" dirty="0"/>
              <a:t>для размещения сущностей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5A28C1-10ED-50D3-32DD-90C62924CA27}"/>
              </a:ext>
            </a:extLst>
          </p:cNvPr>
          <p:cNvSpPr txBox="1"/>
          <p:nvPr/>
        </p:nvSpPr>
        <p:spPr>
          <a:xfrm>
            <a:off x="5548663" y="4286012"/>
            <a:ext cx="435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+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DC2B0E-C44D-7412-3978-2786260C7AE0}"/>
              </a:ext>
            </a:extLst>
          </p:cNvPr>
          <p:cNvSpPr txBox="1"/>
          <p:nvPr/>
        </p:nvSpPr>
        <p:spPr>
          <a:xfrm>
            <a:off x="4194567" y="5657671"/>
            <a:ext cx="3137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Классы </a:t>
            </a:r>
            <a:r>
              <a:rPr lang="en-US" dirty="0"/>
              <a:t>Player </a:t>
            </a:r>
            <a:r>
              <a:rPr lang="ru-RU" dirty="0"/>
              <a:t>и класс </a:t>
            </a:r>
            <a:r>
              <a:rPr lang="en-US" dirty="0"/>
              <a:t>Boss </a:t>
            </a:r>
            <a:r>
              <a:rPr lang="ru-RU" dirty="0"/>
              <a:t>для реализации перемещения, атак и характеристик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00B9DB7-551D-6280-4BD6-DF2F8D3BD587}"/>
              </a:ext>
            </a:extLst>
          </p:cNvPr>
          <p:cNvSpPr txBox="1"/>
          <p:nvPr/>
        </p:nvSpPr>
        <p:spPr>
          <a:xfrm>
            <a:off x="5548663" y="530167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+</a:t>
            </a:r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69E66F2F-6E12-6315-AC24-B517D9E0C9FB}"/>
              </a:ext>
            </a:extLst>
          </p:cNvPr>
          <p:cNvCxnSpPr/>
          <p:nvPr/>
        </p:nvCxnSpPr>
        <p:spPr>
          <a:xfrm>
            <a:off x="7543800" y="2286083"/>
            <a:ext cx="1295400" cy="617017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AEC06B39-D373-4F46-47E4-2FFD6A8215A8}"/>
              </a:ext>
            </a:extLst>
          </p:cNvPr>
          <p:cNvCxnSpPr/>
          <p:nvPr/>
        </p:nvCxnSpPr>
        <p:spPr>
          <a:xfrm flipV="1">
            <a:off x="7734300" y="3354586"/>
            <a:ext cx="1104900" cy="562094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D7054F69-F478-B58C-0AAB-47DEF22DD251}"/>
              </a:ext>
            </a:extLst>
          </p:cNvPr>
          <p:cNvCxnSpPr>
            <a:cxnSpLocks/>
          </p:cNvCxnSpPr>
          <p:nvPr/>
        </p:nvCxnSpPr>
        <p:spPr>
          <a:xfrm flipV="1">
            <a:off x="7457045" y="3635633"/>
            <a:ext cx="1598055" cy="1384273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7" name="Прямая со стрелкой 36">
            <a:extLst>
              <a:ext uri="{FF2B5EF4-FFF2-40B4-BE49-F238E27FC236}">
                <a16:creationId xmlns:a16="http://schemas.microsoft.com/office/drawing/2014/main" id="{9DB598E5-818A-C67A-A97C-C78021A10144}"/>
              </a:ext>
            </a:extLst>
          </p:cNvPr>
          <p:cNvCxnSpPr>
            <a:stCxn id="27" idx="3"/>
          </p:cNvCxnSpPr>
          <p:nvPr/>
        </p:nvCxnSpPr>
        <p:spPr>
          <a:xfrm flipV="1">
            <a:off x="7332121" y="3962846"/>
            <a:ext cx="1888079" cy="229499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DEEEBF3-3AF7-9EA1-F5B0-24CF8B7A2970}"/>
              </a:ext>
            </a:extLst>
          </p:cNvPr>
          <p:cNvSpPr txBox="1"/>
          <p:nvPr/>
        </p:nvSpPr>
        <p:spPr>
          <a:xfrm>
            <a:off x="9055100" y="2989302"/>
            <a:ext cx="28881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Отрисовка </a:t>
            </a:r>
            <a:r>
              <a:rPr lang="ru-RU" dirty="0" err="1"/>
              <a:t>тайлов</a:t>
            </a:r>
            <a:r>
              <a:rPr lang="ru-RU" dirty="0"/>
              <a:t>, персонажей и предметов</a:t>
            </a:r>
          </a:p>
        </p:txBody>
      </p:sp>
    </p:spTree>
    <p:extLst>
      <p:ext uri="{BB962C8B-B14F-4D97-AF65-F5344CB8AC3E}">
        <p14:creationId xmlns:p14="http://schemas.microsoft.com/office/powerpoint/2010/main" val="1817585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Объект 4">
            <a:extLst>
              <a:ext uri="{FF2B5EF4-FFF2-40B4-BE49-F238E27FC236}">
                <a16:creationId xmlns:a16="http://schemas.microsoft.com/office/drawing/2014/main" id="{60B6CDAD-A1F9-D360-2F93-513B6A5B8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1" y="1574031"/>
            <a:ext cx="5188590" cy="21528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EB6DDE-FA6E-A0BE-6DB2-DE4A44D7DD3F}"/>
              </a:ext>
            </a:extLst>
          </p:cNvPr>
          <p:cNvSpPr txBox="1"/>
          <p:nvPr/>
        </p:nvSpPr>
        <p:spPr>
          <a:xfrm>
            <a:off x="838200" y="5708073"/>
            <a:ext cx="93378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Интерфейс должен отображать состояние игрока, позволять улучшать характеристики.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43AD262-9797-B93C-57D0-C771884CA6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582" y="1574031"/>
            <a:ext cx="5358063" cy="4025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159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Объект 6">
            <a:extLst>
              <a:ext uri="{FF2B5EF4-FFF2-40B4-BE49-F238E27FC236}">
                <a16:creationId xmlns:a16="http://schemas.microsoft.com/office/drawing/2014/main" id="{BF1B96DA-55FC-41DB-C1A1-E38C71E4D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365125"/>
            <a:ext cx="2854036" cy="183579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13914B1-461E-FCF2-3936-A603040648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82" y="365125"/>
            <a:ext cx="4708048" cy="183197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3BD4DA6-4A6A-FDF4-9315-898EC7F86D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5161" y="2952198"/>
            <a:ext cx="3050260" cy="2241712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E5ACD32-2A67-588A-54E4-76D6812045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086" y="3080523"/>
            <a:ext cx="5534797" cy="11431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CE3B73-AB09-CCC8-118A-708FACE3E292}"/>
              </a:ext>
            </a:extLst>
          </p:cNvPr>
          <p:cNvSpPr txBox="1"/>
          <p:nvPr/>
        </p:nvSpPr>
        <p:spPr>
          <a:xfrm>
            <a:off x="1237130" y="2264986"/>
            <a:ext cx="34263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Отдача после получения урона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2E67D0-0CA9-5FEA-4D0A-EF2CC1B60EE1}"/>
              </a:ext>
            </a:extLst>
          </p:cNvPr>
          <p:cNvSpPr txBox="1"/>
          <p:nvPr/>
        </p:nvSpPr>
        <p:spPr>
          <a:xfrm>
            <a:off x="6359879" y="2264986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Атака + отталкивание врагов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AC458-180D-F375-B395-D8BC84A9DD78}"/>
              </a:ext>
            </a:extLst>
          </p:cNvPr>
          <p:cNvSpPr txBox="1"/>
          <p:nvPr/>
        </p:nvSpPr>
        <p:spPr>
          <a:xfrm>
            <a:off x="2178424" y="5327124"/>
            <a:ext cx="1376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Гравитация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BD252-79D9-C458-3BEB-CB85FE4C4115}"/>
              </a:ext>
            </a:extLst>
          </p:cNvPr>
          <p:cNvSpPr txBox="1"/>
          <p:nvPr/>
        </p:nvSpPr>
        <p:spPr>
          <a:xfrm>
            <a:off x="6096000" y="4300556"/>
            <a:ext cx="5205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Текстовые файлы для загрузки карты и объектов</a:t>
            </a:r>
          </a:p>
        </p:txBody>
      </p:sp>
    </p:spTree>
    <p:extLst>
      <p:ext uri="{BB962C8B-B14F-4D97-AF65-F5344CB8AC3E}">
        <p14:creationId xmlns:p14="http://schemas.microsoft.com/office/powerpoint/2010/main" val="351014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4A702D-87DE-0E01-9D15-2633F90FD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Реализация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712A83-A4AB-0E32-4E06-5D63401DC7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/>
              <a:t>Инициализация:</a:t>
            </a:r>
            <a:r>
              <a:rPr lang="ru-RU" dirty="0"/>
              <a:t> загрузка карты, объектов, монстров.</a:t>
            </a:r>
            <a:endParaRPr lang="en-US" b="1" dirty="0"/>
          </a:p>
          <a:p>
            <a:pPr marL="0" indent="0">
              <a:buNone/>
            </a:pPr>
            <a:r>
              <a:rPr lang="ru-RU" b="1" dirty="0"/>
              <a:t>Игровой цикл:</a:t>
            </a:r>
            <a:endParaRPr lang="ru-RU" dirty="0"/>
          </a:p>
          <a:p>
            <a:pPr lvl="1"/>
            <a:r>
              <a:rPr lang="ru-RU" dirty="0"/>
              <a:t>Обработка ввода (клавиши, мышь).</a:t>
            </a:r>
          </a:p>
          <a:p>
            <a:pPr lvl="1"/>
            <a:r>
              <a:rPr lang="ru-RU" dirty="0"/>
              <a:t>Обновление физики (гравитация, коллизии с </a:t>
            </a:r>
            <a:r>
              <a:rPr lang="ru-RU" dirty="0" err="1"/>
              <a:t>тайлами</a:t>
            </a:r>
            <a:r>
              <a:rPr lang="ru-RU" dirty="0"/>
              <a:t>).</a:t>
            </a:r>
          </a:p>
          <a:p>
            <a:pPr lvl="1"/>
            <a:r>
              <a:rPr lang="ru-RU" dirty="0"/>
              <a:t>Обновление игрока (движение, атака, рывок).</a:t>
            </a:r>
          </a:p>
          <a:p>
            <a:pPr lvl="1"/>
            <a:r>
              <a:rPr lang="ru-RU" dirty="0"/>
              <a:t>Обновление монстров (ИИ, патруль, преследование).</a:t>
            </a:r>
          </a:p>
          <a:p>
            <a:pPr lvl="1"/>
            <a:r>
              <a:rPr lang="ru-RU" dirty="0"/>
              <a:t>Проверка столкновений с монстрами и объектами.</a:t>
            </a:r>
          </a:p>
          <a:p>
            <a:pPr lvl="1"/>
            <a:r>
              <a:rPr lang="ru-RU" dirty="0"/>
              <a:t>Проверка переходов между картами и чекпоинтов.</a:t>
            </a:r>
          </a:p>
          <a:p>
            <a:pPr lvl="1"/>
            <a:r>
              <a:rPr lang="ru-RU" dirty="0"/>
              <a:t>Отрисовка.</a:t>
            </a:r>
          </a:p>
          <a:p>
            <a:pPr marL="0" indent="0">
              <a:buNone/>
            </a:pPr>
            <a:r>
              <a:rPr lang="ru-RU" b="1" dirty="0"/>
              <a:t>Завершение:</a:t>
            </a:r>
            <a:r>
              <a:rPr lang="ru-RU" dirty="0"/>
              <a:t> при смерти игрока – </a:t>
            </a:r>
            <a:r>
              <a:rPr lang="ru-RU" dirty="0" err="1"/>
              <a:t>респавн</a:t>
            </a:r>
            <a:r>
              <a:rPr lang="ru-RU" dirty="0"/>
              <a:t>, при победе над боссом – телепорт</a:t>
            </a:r>
            <a:r>
              <a:rPr lang="en-US" dirty="0"/>
              <a:t> </a:t>
            </a:r>
            <a:r>
              <a:rPr lang="ru-RU" dirty="0"/>
              <a:t>на следующую карту.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933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17403B-CB38-F01F-C2CB-5D13BD820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играть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4265AFE-8398-C021-E765-59CC637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Управление </a:t>
            </a:r>
            <a:r>
              <a:rPr lang="en-US" dirty="0"/>
              <a:t>WASD</a:t>
            </a:r>
          </a:p>
          <a:p>
            <a:r>
              <a:rPr lang="ru-RU" dirty="0"/>
              <a:t>Рывок </a:t>
            </a:r>
            <a:r>
              <a:rPr lang="en-US" dirty="0"/>
              <a:t>Shift</a:t>
            </a:r>
          </a:p>
          <a:p>
            <a:r>
              <a:rPr lang="ru-RU" dirty="0"/>
              <a:t>Использовать</a:t>
            </a:r>
            <a:r>
              <a:rPr lang="en-US" dirty="0"/>
              <a:t>/</a:t>
            </a:r>
            <a:r>
              <a:rPr lang="ru-RU" dirty="0"/>
              <a:t>взаимодействие </a:t>
            </a:r>
            <a:r>
              <a:rPr lang="en-US" dirty="0"/>
              <a:t>E</a:t>
            </a:r>
          </a:p>
          <a:p>
            <a:r>
              <a:rPr lang="ru-RU" dirty="0"/>
              <a:t>Атака ЛКМ</a:t>
            </a:r>
          </a:p>
          <a:p>
            <a:r>
              <a:rPr lang="ru-RU" dirty="0"/>
              <a:t>Прыжок </a:t>
            </a:r>
            <a:r>
              <a:rPr lang="en-US" dirty="0"/>
              <a:t>Space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Цель игры: пройти всех боссов и активировать главное ядро</a:t>
            </a: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55ABC1AE-7FBC-A711-493F-1023A9268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7964" y="1027906"/>
            <a:ext cx="5165939" cy="3282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762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084CC0-44FD-597A-A8A1-2CE58225F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сложности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A821B9-180B-0F23-822C-726ED1DC2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Коллизии игрока с боссов. Проверять пересечение и возврат на стартовую позицию, если не произведен рывок</a:t>
            </a:r>
          </a:p>
          <a:p>
            <a:r>
              <a:rPr lang="ru-RU" dirty="0"/>
              <a:t>Сохранение состояния предметов и монстров между картами. </a:t>
            </a:r>
          </a:p>
          <a:p>
            <a:r>
              <a:rPr lang="ru-RU" dirty="0"/>
              <a:t>Коллизия с </a:t>
            </a:r>
            <a:r>
              <a:rPr lang="ru-RU" dirty="0" err="1"/>
              <a:t>тайлами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7342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E4F1A-308A-42EE-F2F4-24966F400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игры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208B8B9-C783-7207-7FDA-799D4A21FE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08642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21EB76-D6AE-CCFA-3ECD-E495A36E1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E099A5B-3280-BB1F-C029-AE38971AB2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325207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274</Words>
  <Application>Microsoft Office PowerPoint</Application>
  <PresentationFormat>Широкоэкранный</PresentationFormat>
  <Paragraphs>67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Тема Office</vt:lpstr>
      <vt:lpstr>Апика 2D RPG игра</vt:lpstr>
      <vt:lpstr>аналоги</vt:lpstr>
      <vt:lpstr>Постановка задачи</vt:lpstr>
      <vt:lpstr>Библиотека</vt:lpstr>
      <vt:lpstr>Диаграмма классов UML</vt:lpstr>
      <vt:lpstr>Алгоритм работы</vt:lpstr>
      <vt:lpstr>Презентация PowerPoint</vt:lpstr>
      <vt:lpstr>Презентация PowerPoint</vt:lpstr>
      <vt:lpstr>Реализация</vt:lpstr>
      <vt:lpstr>Как играть</vt:lpstr>
      <vt:lpstr>Основные сложности</vt:lpstr>
      <vt:lpstr>Примеры игры</vt:lpstr>
      <vt:lpstr>спасибо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 last name Sebastian</dc:creator>
  <cp:lastModifiedBy>Трофимов Севастьян Юрьевич</cp:lastModifiedBy>
  <cp:revision>3</cp:revision>
  <dcterms:created xsi:type="dcterms:W3CDTF">2026-03-10T21:04:59Z</dcterms:created>
  <dcterms:modified xsi:type="dcterms:W3CDTF">2026-03-11T09:46:00Z</dcterms:modified>
</cp:coreProperties>
</file>